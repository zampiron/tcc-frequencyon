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Frequência</c:v>
                </c:pt>
              </c:strCache>
            </c:strRef>
          </c:tx>
          <c:spPr>
            <a:solidFill>
              <a:srgbClr val="5B8CFF"/>
            </a:solidFill>
          </c:spPr>
          <c:dPt>
            <c:idx val="4"/>
            <c:spPr>
              <a:solidFill>
                <a:srgbClr val="A26BFF"/>
              </a:solidFill>
            </c:spPr>
          </c:dPt>
          <c:cat>
            <c:strRef>
              <c:f>Sheet1!$A$2:$A$7</c:f>
              <c:strCache>
                <c:ptCount val="6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  <c:pt idx="5">
                  <c:v>Sem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</c:v>
                </c:pt>
                <c:pt idx="1">
                  <c:v>79</c:v>
                </c:pt>
                <c:pt idx="2">
                  <c:v>74</c:v>
                </c:pt>
                <c:pt idx="3">
                  <c:v>81</c:v>
                </c:pt>
                <c:pt idx="4">
                  <c:v>84</c:v>
                </c:pt>
                <c:pt idx="5">
                  <c:v>82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E9ED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E3768"/>
            </a:solidFill>
          </a:ln>
        </c:spPr>
        <c:txPr>
          <a:bodyPr/>
          <a:lstStyle/>
          <a:p>
            <a:pPr>
              <a:defRPr>
                <a:solidFill>
                  <a:srgbClr val="8E98C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Gridlines>
          <c:spPr>
            <a:ln>
              <a:solidFill>
                <a:srgbClr val="1F265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E98C8"/>
          </a:solidFill>
          <a:latin typeface="Inter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chart" Target="../charts/chart1.xml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TATUS UPDATE  ·  SPRINT 04"/>
          <p:cNvSpPr/>
          <p:nvPr/>
        </p:nvSpPr>
        <p:spPr>
          <a:xfrm>
            <a:off x="548640" y="182880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94944" y="193852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243230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Inter"/>
              </a:rPr>
              <a:t>STATUS UPDATE  ·  SPRINT 04</a:t>
            </a:r>
          </a:p>
        </p:txBody>
      </p:sp>
      <p:sp>
        <p:nvSpPr>
          <p:cNvPr id="10" name="Titulo"/>
          <p:cNvSpPr txBox="1"/>
          <p:nvPr/>
        </p:nvSpPr>
        <p:spPr>
          <a:xfrm>
            <a:off x="548640" y="2377440"/>
            <a:ext cx="6583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E9EDFF"/>
                </a:solidFill>
                <a:latin typeface="Space Grotesk"/>
              </a:rPr>
              <a:t>Status do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8B7CFF"/>
                </a:solidFill>
                <a:latin typeface="Space Grotesk"/>
              </a:rPr>
              <a:t>Projeto</a:t>
            </a:r>
          </a:p>
        </p:txBody>
      </p:sp>
      <p:sp>
        <p:nvSpPr>
          <p:cNvPr id="11" name="Subtitulo"/>
          <p:cNvSpPr txBox="1"/>
          <p:nvPr/>
        </p:nvSpPr>
        <p:spPr>
          <a:xfrm>
            <a:off x="548640" y="425196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E98C8"/>
                </a:solidFill>
                <a:latin typeface="Inter"/>
              </a:rPr>
              <a:t>Subtítulo da apresentação: uma frase curta sobre o que foi entregue e o que vem a seguir.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2697480" cy="566928"/>
          </a:xfrm>
          <a:prstGeom prst="roundRect">
            <a:avLst>
              <a:gd name="adj" fmla="val 2258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tile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358384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144" y="525780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Nome do apresentador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257800"/>
            <a:ext cx="2514600" cy="566928"/>
          </a:xfrm>
          <a:prstGeom prst="roundRect">
            <a:avLst>
              <a:gd name="adj" fmla="val 2258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tile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5358384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86784" y="525780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12 de outubro de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5257800"/>
            <a:ext cx="1508760" cy="566928"/>
          </a:xfrm>
          <a:prstGeom prst="roundRect">
            <a:avLst>
              <a:gd name="adj" fmla="val 2258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tile_fl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5358384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38544" y="5257800"/>
            <a:ext cx="822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Versão 1.0</a:t>
            </a:r>
          </a:p>
        </p:txBody>
      </p:sp>
      <p:sp>
        <p:nvSpPr>
          <p:cNvPr id="21" name="Painel decorativo"/>
          <p:cNvSpPr/>
          <p:nvPr/>
        </p:nvSpPr>
        <p:spPr>
          <a:xfrm>
            <a:off x="7726679" y="1417320"/>
            <a:ext cx="3931920" cy="4434840"/>
          </a:xfrm>
          <a:prstGeom prst="roundRect">
            <a:avLst>
              <a:gd name="adj" fmla="val 5581"/>
            </a:avLst>
          </a:prstGeom>
          <a:solidFill>
            <a:srgbClr val="0E1533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46720" y="1691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E98C8"/>
                </a:solidFill>
                <a:latin typeface="Inter"/>
              </a:rPr>
              <a:t>Frequência geral</a:t>
            </a:r>
          </a:p>
        </p:txBody>
      </p:sp>
      <p:pic>
        <p:nvPicPr>
          <p:cNvPr id="23" name="Picture 22" descr="tile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0" y="164592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6720" y="201168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8B7CFF"/>
                </a:solidFill>
                <a:latin typeface="Space Grotesk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926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E98C8"/>
                </a:solidFill>
                <a:latin typeface="Inter"/>
              </a:rPr>
              <a:t>Média da instituição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52044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Entregas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352044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22E19A"/>
                </a:solidFill>
                <a:latin typeface="Inter"/>
              </a:rPr>
              <a:t>78%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49624"/>
            <a:ext cx="333756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046720" y="3849624"/>
            <a:ext cx="2603296" cy="118872"/>
          </a:xfrm>
          <a:prstGeom prst="roundRect">
            <a:avLst>
              <a:gd name="adj" fmla="val 50000"/>
            </a:avLst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46720" y="42336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Testes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423367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5B8CFF"/>
                </a:solidFill>
                <a:latin typeface="Inter"/>
              </a:rPr>
              <a:t>55%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562856"/>
            <a:ext cx="333756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046720" y="4562856"/>
            <a:ext cx="1835658" cy="118872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46720" y="4946904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Documentação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4946904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FC23D"/>
                </a:solidFill>
                <a:latin typeface="Inter"/>
              </a:rPr>
              <a:t>32%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276088"/>
            <a:ext cx="333756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046720" y="5276088"/>
            <a:ext cx="1068019" cy="118872"/>
          </a:xfrm>
          <a:prstGeom prst="roundRect">
            <a:avLst>
              <a:gd name="adj" fmla="val 50000"/>
            </a:avLst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O que vamos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ver hoje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Roteiro da apresentação em quatro partes.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02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Card agenda 1"/>
          <p:cNvSpPr/>
          <p:nvPr/>
        </p:nvSpPr>
        <p:spPr>
          <a:xfrm>
            <a:off x="548640" y="2514600"/>
            <a:ext cx="2567863" cy="3291840"/>
          </a:xfrm>
          <a:prstGeom prst="roundRect">
            <a:avLst>
              <a:gd name="adj" fmla="val 5697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gra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2834640"/>
            <a:ext cx="822960" cy="1645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59" y="30175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8B7CFF"/>
                </a:solidFill>
                <a:latin typeface="Space Grotesk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690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9EDFF"/>
                </a:solidFill>
                <a:latin typeface="Space Grotesk"/>
              </a:rPr>
              <a:t>Resumo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526280"/>
            <a:ext cx="20192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Onde o projeto está e os números principais do período.</a:t>
            </a:r>
          </a:p>
        </p:txBody>
      </p:sp>
      <p:sp>
        <p:nvSpPr>
          <p:cNvPr id="18" name="Card agenda 2"/>
          <p:cNvSpPr/>
          <p:nvPr/>
        </p:nvSpPr>
        <p:spPr>
          <a:xfrm>
            <a:off x="3390823" y="2514600"/>
            <a:ext cx="2567863" cy="3291840"/>
          </a:xfrm>
          <a:prstGeom prst="roundRect">
            <a:avLst>
              <a:gd name="adj" fmla="val 5697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gra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143" y="2834640"/>
            <a:ext cx="822960" cy="164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65143" y="30175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8B7CFF"/>
                </a:solidFill>
                <a:latin typeface="Space Grotesk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5143" y="40690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9EDFF"/>
                </a:solidFill>
                <a:latin typeface="Space Grotesk"/>
              </a:rPr>
              <a:t>Entregas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5143" y="4526280"/>
            <a:ext cx="20192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O que foi concluído, o que está em andamento e o que vem.</a:t>
            </a:r>
          </a:p>
        </p:txBody>
      </p:sp>
      <p:sp>
        <p:nvSpPr>
          <p:cNvPr id="23" name="Card agenda 3"/>
          <p:cNvSpPr/>
          <p:nvPr/>
        </p:nvSpPr>
        <p:spPr>
          <a:xfrm>
            <a:off x="6233007" y="2514600"/>
            <a:ext cx="2567863" cy="3291840"/>
          </a:xfrm>
          <a:prstGeom prst="roundRect">
            <a:avLst>
              <a:gd name="adj" fmla="val 5697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gra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7" y="2834640"/>
            <a:ext cx="822960" cy="1645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07327" y="30175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8B7CFF"/>
                </a:solidFill>
                <a:latin typeface="Space Grotesk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7" y="40690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9EDFF"/>
                </a:solidFill>
                <a:latin typeface="Space Grotesk"/>
              </a:rPr>
              <a:t>Riscos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7" y="4526280"/>
            <a:ext cx="20192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Bloqueios atuais e o plano para cada um deles.</a:t>
            </a:r>
          </a:p>
        </p:txBody>
      </p:sp>
      <p:sp>
        <p:nvSpPr>
          <p:cNvPr id="28" name="Card agenda 4"/>
          <p:cNvSpPr/>
          <p:nvPr/>
        </p:nvSpPr>
        <p:spPr>
          <a:xfrm>
            <a:off x="9075191" y="2514600"/>
            <a:ext cx="2567863" cy="3291840"/>
          </a:xfrm>
          <a:prstGeom prst="roundRect">
            <a:avLst>
              <a:gd name="adj" fmla="val 5697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gra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511" y="2834640"/>
            <a:ext cx="822960" cy="1645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49511" y="30175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8B7CFF"/>
                </a:solidFill>
                <a:latin typeface="Space Grotesk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9511" y="4069080"/>
            <a:ext cx="20192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9EDFF"/>
                </a:solidFill>
                <a:latin typeface="Space Grotesk"/>
              </a:rPr>
              <a:t>Próximos passos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9511" y="4526280"/>
            <a:ext cx="201922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Prioridades da próxima sprint e responsáveis.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Resumo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executivo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Visão geral do período em um único lugar.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03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Card resumo"/>
          <p:cNvSpPr/>
          <p:nvPr/>
        </p:nvSpPr>
        <p:spPr>
          <a:xfrm>
            <a:off x="548640" y="2514600"/>
            <a:ext cx="4754880" cy="3657600"/>
          </a:xfrm>
          <a:prstGeom prst="roundRect">
            <a:avLst>
              <a:gd name="adj" fmla="val 400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Etiqueta NO PRAZO"/>
          <p:cNvSpPr/>
          <p:nvPr/>
        </p:nvSpPr>
        <p:spPr>
          <a:xfrm>
            <a:off x="822959" y="283464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D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69263" y="2944368"/>
            <a:ext cx="91440" cy="91440"/>
          </a:xfrm>
          <a:prstGeom prst="ellipse">
            <a:avLst/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5" y="2834640"/>
            <a:ext cx="83210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E19A"/>
                </a:solidFill>
                <a:latin typeface="Inter"/>
              </a:rPr>
              <a:t>NO PRAZO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9EDFF"/>
                </a:solidFill>
                <a:latin typeface="Space Grotesk"/>
              </a:rPr>
              <a:t>Mensagem principal do período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931920"/>
            <a:ext cx="4206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8E98C8"/>
                </a:solidFill>
                <a:latin typeface="Inter"/>
              </a:rPr>
              <a:t>Escreva aqui em duas ou três frases o que mudou desde a última atualização e por que isso importa.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8E98C8"/>
                </a:solidFill>
                <a:latin typeface="Inter"/>
              </a:rPr>
              <a:t>Use um segundo parágrafo para o ponto de atenção mais importante.</a:t>
            </a:r>
          </a:p>
        </p:txBody>
      </p:sp>
      <p:pic>
        <p:nvPicPr>
          <p:cNvPr id="19" name="Picture 18" descr="grad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5669280"/>
            <a:ext cx="4206240" cy="73152"/>
          </a:xfrm>
          <a:prstGeom prst="rect">
            <a:avLst/>
          </a:prstGeom>
        </p:spPr>
      </p:pic>
      <p:sp>
        <p:nvSpPr>
          <p:cNvPr id="20" name="KPI Total de alunos"/>
          <p:cNvSpPr/>
          <p:nvPr/>
        </p:nvSpPr>
        <p:spPr>
          <a:xfrm>
            <a:off x="5577840" y="2514600"/>
            <a:ext cx="2895447" cy="1691640"/>
          </a:xfrm>
          <a:prstGeom prst="roundRect">
            <a:avLst>
              <a:gd name="adj" fmla="val 8648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52159" y="2788920"/>
            <a:ext cx="1706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E98C8"/>
                </a:solidFill>
                <a:latin typeface="Inter"/>
              </a:rPr>
              <a:t>Total de alunos</a:t>
            </a:r>
          </a:p>
        </p:txBody>
      </p:sp>
      <p:pic>
        <p:nvPicPr>
          <p:cNvPr id="22" name="Picture 21" descr="tile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327" y="2743200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52159" y="3154680"/>
            <a:ext cx="2346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9EDFF"/>
                </a:solidFill>
                <a:latin typeface="Space Grotesk"/>
              </a:rP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3749039"/>
            <a:ext cx="2346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E98C8"/>
                </a:solidFill>
                <a:latin typeface="Inter"/>
              </a:rPr>
              <a:t>Alunos matriculados</a:t>
            </a:r>
          </a:p>
        </p:txBody>
      </p:sp>
      <p:sp>
        <p:nvSpPr>
          <p:cNvPr id="25" name="KPI Frequência geral"/>
          <p:cNvSpPr/>
          <p:nvPr/>
        </p:nvSpPr>
        <p:spPr>
          <a:xfrm>
            <a:off x="8747607" y="2514600"/>
            <a:ext cx="2895447" cy="1691640"/>
          </a:xfrm>
          <a:prstGeom prst="roundRect">
            <a:avLst>
              <a:gd name="adj" fmla="val 8648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21927" y="2788920"/>
            <a:ext cx="1706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E98C8"/>
                </a:solidFill>
                <a:latin typeface="Inter"/>
              </a:rPr>
              <a:t>Frequência geral</a:t>
            </a:r>
          </a:p>
        </p:txBody>
      </p:sp>
      <p:pic>
        <p:nvPicPr>
          <p:cNvPr id="27" name="Picture 26" descr="tile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0095" y="2743200"/>
            <a:ext cx="548640" cy="548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21927" y="3154680"/>
            <a:ext cx="2346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8B7CFF"/>
                </a:solidFill>
                <a:latin typeface="Space Grotesk"/>
              </a:rPr>
              <a:t>82%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1927" y="3749039"/>
            <a:ext cx="2346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E98C8"/>
                </a:solidFill>
                <a:latin typeface="Inter"/>
              </a:rPr>
              <a:t>Média da instituição</a:t>
            </a:r>
          </a:p>
        </p:txBody>
      </p:sp>
      <p:sp>
        <p:nvSpPr>
          <p:cNvPr id="30" name="KPI Entregas concluídas"/>
          <p:cNvSpPr/>
          <p:nvPr/>
        </p:nvSpPr>
        <p:spPr>
          <a:xfrm>
            <a:off x="5577840" y="4480560"/>
            <a:ext cx="2895447" cy="1691640"/>
          </a:xfrm>
          <a:prstGeom prst="roundRect">
            <a:avLst>
              <a:gd name="adj" fmla="val 8648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52159" y="4754880"/>
            <a:ext cx="1706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E98C8"/>
                </a:solidFill>
                <a:latin typeface="Inter"/>
              </a:rPr>
              <a:t>Entregas concluídas</a:t>
            </a:r>
          </a:p>
        </p:txBody>
      </p:sp>
      <p:pic>
        <p:nvPicPr>
          <p:cNvPr id="32" name="Picture 31" descr="tile_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327" y="4709160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52159" y="5120640"/>
            <a:ext cx="2346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9EDFF"/>
                </a:solidFill>
                <a:latin typeface="Space Grotesk"/>
              </a:rPr>
              <a:t>12/15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59" y="5715000"/>
            <a:ext cx="2346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E98C8"/>
                </a:solidFill>
                <a:latin typeface="Inter"/>
              </a:rPr>
              <a:t>Itens da sprint</a:t>
            </a:r>
          </a:p>
        </p:txBody>
      </p:sp>
      <p:sp>
        <p:nvSpPr>
          <p:cNvPr id="35" name="KPI Alunos em risco"/>
          <p:cNvSpPr/>
          <p:nvPr/>
        </p:nvSpPr>
        <p:spPr>
          <a:xfrm>
            <a:off x="8747607" y="4480560"/>
            <a:ext cx="2895447" cy="1691640"/>
          </a:xfrm>
          <a:prstGeom prst="roundRect">
            <a:avLst>
              <a:gd name="adj" fmla="val 8648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21927" y="4754880"/>
            <a:ext cx="1706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8E98C8"/>
                </a:solidFill>
                <a:latin typeface="Inter"/>
              </a:rPr>
              <a:t>Alunos em risco</a:t>
            </a:r>
          </a:p>
        </p:txBody>
      </p:sp>
      <p:pic>
        <p:nvPicPr>
          <p:cNvPr id="37" name="Picture 36" descr="tile_alert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0095" y="4709160"/>
            <a:ext cx="548640" cy="5486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021927" y="5120640"/>
            <a:ext cx="23468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9EDFF"/>
                </a:solidFill>
                <a:latin typeface="Space Grotesk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1927" y="5715000"/>
            <a:ext cx="23468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E98C8"/>
                </a:solidFill>
                <a:latin typeface="Inter"/>
              </a:rPr>
              <a:t>Abaixo de 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Progresso das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entregas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Andamento de cada frente de trabalho.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04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Card progresso"/>
          <p:cNvSpPr/>
          <p:nvPr/>
        </p:nvSpPr>
        <p:spPr>
          <a:xfrm>
            <a:off x="548640" y="2514600"/>
            <a:ext cx="11094415" cy="3657600"/>
          </a:xfrm>
          <a:prstGeom prst="roundRect">
            <a:avLst>
              <a:gd name="adj" fmla="val 400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2788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50">
                <a:solidFill>
                  <a:srgbClr val="8E98C8"/>
                </a:solidFill>
                <a:latin typeface="Inter"/>
              </a:rPr>
              <a:t>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788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50">
                <a:solidFill>
                  <a:srgbClr val="8E98C8"/>
                </a:solidFill>
                <a:latin typeface="Inter"/>
              </a:rPr>
              <a:t>RESPONSÁVEL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88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50">
                <a:solidFill>
                  <a:srgbClr val="8E98C8"/>
                </a:solidFill>
                <a:latin typeface="Inter"/>
              </a:rPr>
              <a:t>PROGRESSO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7889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50">
                <a:solidFill>
                  <a:srgbClr val="8E98C8"/>
                </a:solidFill>
                <a:latin typeface="Inter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154680"/>
            <a:ext cx="10728655" cy="9144"/>
          </a:xfrm>
          <a:prstGeom prst="rect">
            <a:avLst/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15468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EDFF"/>
                </a:solidFill>
                <a:latin typeface="Inter"/>
              </a:rPr>
              <a:t>Reconhecimento facial no totem</a:t>
            </a:r>
          </a:p>
        </p:txBody>
      </p:sp>
      <p:sp>
        <p:nvSpPr>
          <p:cNvPr id="20" name="Oval 19"/>
          <p:cNvSpPr/>
          <p:nvPr/>
        </p:nvSpPr>
        <p:spPr>
          <a:xfrm>
            <a:off x="4754879" y="3296412"/>
            <a:ext cx="310896" cy="310896"/>
          </a:xfrm>
          <a:prstGeom prst="ellipse">
            <a:avLst/>
          </a:prstGeom>
          <a:solidFill>
            <a:srgbClr val="141E48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754879" y="329641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B8CFF"/>
                </a:solidFill>
                <a:latin typeface="Inter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15468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Nome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392424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858000" y="3392424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72600" y="315468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100%</a:t>
            </a:r>
          </a:p>
        </p:txBody>
      </p:sp>
      <p:sp>
        <p:nvSpPr>
          <p:cNvPr id="26" name="Etiqueta CONCLUÍDO"/>
          <p:cNvSpPr/>
          <p:nvPr/>
        </p:nvSpPr>
        <p:spPr>
          <a:xfrm>
            <a:off x="10012680" y="329641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D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0158984" y="3406140"/>
            <a:ext cx="91440" cy="91440"/>
          </a:xfrm>
          <a:prstGeom prst="ellipse">
            <a:avLst/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323576" y="3296412"/>
            <a:ext cx="110642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E19A"/>
                </a:solidFill>
                <a:latin typeface="Inter"/>
              </a:rPr>
              <a:t>CONCLUÍDO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49040"/>
            <a:ext cx="10728655" cy="9144"/>
          </a:xfrm>
          <a:prstGeom prst="rect">
            <a:avLst/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8680" y="374904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EDFF"/>
                </a:solidFill>
                <a:latin typeface="Inter"/>
              </a:rPr>
              <a:t>Painel do professor</a:t>
            </a:r>
          </a:p>
        </p:txBody>
      </p:sp>
      <p:sp>
        <p:nvSpPr>
          <p:cNvPr id="31" name="Oval 30"/>
          <p:cNvSpPr/>
          <p:nvPr/>
        </p:nvSpPr>
        <p:spPr>
          <a:xfrm>
            <a:off x="4754879" y="3890772"/>
            <a:ext cx="310896" cy="310896"/>
          </a:xfrm>
          <a:prstGeom prst="ellipse">
            <a:avLst/>
          </a:prstGeom>
          <a:solidFill>
            <a:srgbClr val="141E48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754879" y="389077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B8CFF"/>
                </a:solidFill>
                <a:latin typeface="Inter"/>
              </a:rPr>
              <a:t>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59" y="374904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Nome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3986784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858000" y="3986784"/>
            <a:ext cx="2020824" cy="118872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72600" y="37490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85%</a:t>
            </a:r>
          </a:p>
        </p:txBody>
      </p:sp>
      <p:sp>
        <p:nvSpPr>
          <p:cNvPr id="37" name="Etiqueta EM ANDAMENTO"/>
          <p:cNvSpPr/>
          <p:nvPr/>
        </p:nvSpPr>
        <p:spPr>
          <a:xfrm>
            <a:off x="10012680" y="389077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158984" y="4000500"/>
            <a:ext cx="91440" cy="9144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323576" y="3890772"/>
            <a:ext cx="110642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B8CFF"/>
                </a:solidFill>
                <a:latin typeface="Inter"/>
              </a:rPr>
              <a:t>EM ANDAMENTO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343400"/>
            <a:ext cx="10728655" cy="9144"/>
          </a:xfrm>
          <a:prstGeom prst="rect">
            <a:avLst/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68680" y="434340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EDFF"/>
                </a:solidFill>
                <a:latin typeface="Inter"/>
              </a:rPr>
              <a:t>Justificativa de faltas</a:t>
            </a:r>
          </a:p>
        </p:txBody>
      </p:sp>
      <p:sp>
        <p:nvSpPr>
          <p:cNvPr id="42" name="Oval 41"/>
          <p:cNvSpPr/>
          <p:nvPr/>
        </p:nvSpPr>
        <p:spPr>
          <a:xfrm>
            <a:off x="4754879" y="4485132"/>
            <a:ext cx="310896" cy="310896"/>
          </a:xfrm>
          <a:prstGeom prst="ellipse">
            <a:avLst/>
          </a:prstGeom>
          <a:solidFill>
            <a:srgbClr val="141E48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754879" y="44851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B8CFF"/>
                </a:solidFill>
                <a:latin typeface="Inter"/>
              </a:rPr>
              <a:t>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59" y="43434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Nome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4581144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6858000" y="4581144"/>
            <a:ext cx="1426464" cy="118872"/>
          </a:xfrm>
          <a:prstGeom prst="roundRect">
            <a:avLst>
              <a:gd name="adj" fmla="val 50000"/>
            </a:avLst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72600" y="434340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60%</a:t>
            </a:r>
          </a:p>
        </p:txBody>
      </p:sp>
      <p:sp>
        <p:nvSpPr>
          <p:cNvPr id="48" name="Etiqueta EM ANDAMENTO"/>
          <p:cNvSpPr/>
          <p:nvPr/>
        </p:nvSpPr>
        <p:spPr>
          <a:xfrm>
            <a:off x="10012680" y="448513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0158984" y="4594860"/>
            <a:ext cx="91440" cy="9144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323576" y="4485132"/>
            <a:ext cx="110642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B8CFF"/>
                </a:solidFill>
                <a:latin typeface="Inter"/>
              </a:rPr>
              <a:t>EM ANDAMENTO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937760"/>
            <a:ext cx="10728655" cy="9144"/>
          </a:xfrm>
          <a:prstGeom prst="rect">
            <a:avLst/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68680" y="493776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EDFF"/>
                </a:solidFill>
                <a:latin typeface="Inter"/>
              </a:rPr>
              <a:t>Relatórios em Excel</a:t>
            </a:r>
          </a:p>
        </p:txBody>
      </p:sp>
      <p:sp>
        <p:nvSpPr>
          <p:cNvPr id="53" name="Oval 52"/>
          <p:cNvSpPr/>
          <p:nvPr/>
        </p:nvSpPr>
        <p:spPr>
          <a:xfrm>
            <a:off x="4754879" y="5079492"/>
            <a:ext cx="310896" cy="310896"/>
          </a:xfrm>
          <a:prstGeom prst="ellipse">
            <a:avLst/>
          </a:prstGeom>
          <a:solidFill>
            <a:srgbClr val="141E48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754879" y="50794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B8CFF"/>
                </a:solidFill>
                <a:latin typeface="Inter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6359" y="493776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Nome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0" y="5175504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6858000" y="5175504"/>
            <a:ext cx="832103" cy="118872"/>
          </a:xfrm>
          <a:prstGeom prst="roundRect">
            <a:avLst>
              <a:gd name="adj" fmla="val 50000"/>
            </a:avLst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72600" y="493776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35%</a:t>
            </a:r>
          </a:p>
        </p:txBody>
      </p:sp>
      <p:sp>
        <p:nvSpPr>
          <p:cNvPr id="59" name="Etiqueta ATENÇÃO"/>
          <p:cNvSpPr/>
          <p:nvPr/>
        </p:nvSpPr>
        <p:spPr>
          <a:xfrm>
            <a:off x="10012680" y="507949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2A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10158984" y="5189220"/>
            <a:ext cx="91440" cy="9144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323576" y="5079492"/>
            <a:ext cx="110642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C23D"/>
                </a:solidFill>
                <a:latin typeface="Inter"/>
              </a:rPr>
              <a:t>ATENÇÃO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532120"/>
            <a:ext cx="10728655" cy="9144"/>
          </a:xfrm>
          <a:prstGeom prst="rect">
            <a:avLst/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68680" y="553212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E9EDFF"/>
                </a:solidFill>
                <a:latin typeface="Inter"/>
              </a:rPr>
              <a:t>Documentação do TCC</a:t>
            </a:r>
          </a:p>
        </p:txBody>
      </p:sp>
      <p:sp>
        <p:nvSpPr>
          <p:cNvPr id="64" name="Oval 63"/>
          <p:cNvSpPr/>
          <p:nvPr/>
        </p:nvSpPr>
        <p:spPr>
          <a:xfrm>
            <a:off x="4754879" y="5673852"/>
            <a:ext cx="310896" cy="310896"/>
          </a:xfrm>
          <a:prstGeom prst="ellipse">
            <a:avLst/>
          </a:prstGeom>
          <a:solidFill>
            <a:srgbClr val="141E48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754879" y="56738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5B8CFF"/>
                </a:solidFill>
                <a:latin typeface="Inter"/>
              </a:rPr>
              <a:t>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59" y="553212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Nome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58000" y="5769864"/>
            <a:ext cx="2377440" cy="118872"/>
          </a:xfrm>
          <a:prstGeom prst="roundRect">
            <a:avLst>
              <a:gd name="adj" fmla="val 50000"/>
            </a:avLst>
          </a:prstGeom>
          <a:solidFill>
            <a:srgbClr val="1F26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6858000" y="5769864"/>
            <a:ext cx="356616" cy="118872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72600" y="553212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15%</a:t>
            </a:r>
          </a:p>
        </p:txBody>
      </p:sp>
      <p:sp>
        <p:nvSpPr>
          <p:cNvPr id="70" name="Etiqueta ATRASADO"/>
          <p:cNvSpPr/>
          <p:nvPr/>
        </p:nvSpPr>
        <p:spPr>
          <a:xfrm>
            <a:off x="10012680" y="5673852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2A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10158984" y="5783580"/>
            <a:ext cx="91440" cy="9144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323576" y="5673852"/>
            <a:ext cx="110642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4D6D"/>
                </a:solidFill>
                <a:latin typeface="Inter"/>
              </a:rPr>
              <a:t>ATRASADO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Feito, fazendo e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a fazer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O que andou desde a última atualização.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05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Coluna Concluído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4161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ile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278892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17319" y="2788920"/>
            <a:ext cx="17778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9EDFF"/>
                </a:solidFill>
                <a:latin typeface="Space Grotesk"/>
              </a:rPr>
              <a:t>Concluído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78098" y="2862072"/>
            <a:ext cx="41148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78098" y="2862072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E19A"/>
                </a:solidFill>
                <a:latin typeface="Inter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20440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87552" y="3813048"/>
            <a:ext cx="109728" cy="109728"/>
          </a:xfrm>
          <a:prstGeom prst="ellipse">
            <a:avLst/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34440" y="3630168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Item concluído 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904488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61688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87552" y="4654296"/>
            <a:ext cx="109728" cy="109728"/>
          </a:xfrm>
          <a:prstGeom prst="ellipse">
            <a:avLst/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34440" y="4471416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Item concluído dois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745736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202936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87552" y="5495544"/>
            <a:ext cx="109728" cy="109728"/>
          </a:xfrm>
          <a:prstGeom prst="ellipse">
            <a:avLst/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34440" y="5312664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Item concluído três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86984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30" name="Coluna Em andamento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4161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tile_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788920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206898" y="2788920"/>
            <a:ext cx="17778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9EDFF"/>
                </a:solidFill>
                <a:latin typeface="Space Grotesk"/>
              </a:rPr>
              <a:t>Em andamento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67676" y="2862072"/>
            <a:ext cx="41148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67676" y="2862072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5B8CFF"/>
                </a:solidFill>
                <a:latin typeface="Inter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66818" y="3520440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777130" y="3813048"/>
            <a:ext cx="109728" cy="109728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024018" y="3630168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Item em andamento 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4018" y="3904488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66818" y="4361688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4777130" y="4654296"/>
            <a:ext cx="109728" cy="109728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24018" y="4471416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Item em andamento dois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4018" y="4745736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66818" y="5202936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777130" y="5495544"/>
            <a:ext cx="109728" cy="109728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4018" y="5312664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Item em andamento três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4018" y="5586984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47" name="Coluna Próximo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4161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tile_clock_yel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116" y="2788920"/>
            <a:ext cx="457200" cy="4572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996476" y="2788920"/>
            <a:ext cx="17778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E9EDFF"/>
                </a:solidFill>
                <a:latin typeface="Space Grotesk"/>
              </a:rPr>
              <a:t>Próximo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57255" y="2862072"/>
            <a:ext cx="41148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0957255" y="2862072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C23D"/>
                </a:solidFill>
                <a:latin typeface="Inter"/>
              </a:rPr>
              <a:t>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56396" y="3520440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8566708" y="3813048"/>
            <a:ext cx="109728" cy="109728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813596" y="3630168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Próximo item 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13596" y="3904488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56396" y="4361688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8566708" y="4654296"/>
            <a:ext cx="109728" cy="109728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813596" y="4471416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Próximo item dois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13596" y="4745736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56396" y="5202936"/>
            <a:ext cx="3058058" cy="685800"/>
          </a:xfrm>
          <a:prstGeom prst="roundRect">
            <a:avLst>
              <a:gd name="adj" fmla="val 16000"/>
            </a:avLst>
          </a:prstGeom>
          <a:solidFill>
            <a:srgbClr val="141C40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566708" y="5495544"/>
            <a:ext cx="109728" cy="109728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813596" y="5312664"/>
            <a:ext cx="2417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EDFF"/>
                </a:solidFill>
                <a:latin typeface="Inter"/>
              </a:rPr>
              <a:t>Próximo item três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13596" y="5586984"/>
            <a:ext cx="24179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Detalhe curto ou responsável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Linha do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tempo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Marcos do projeto até a entrega final.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06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Card cronograma"/>
          <p:cNvSpPr/>
          <p:nvPr/>
        </p:nvSpPr>
        <p:spPr>
          <a:xfrm>
            <a:off x="548640" y="2514600"/>
            <a:ext cx="11094415" cy="3657600"/>
          </a:xfrm>
          <a:prstGeom prst="roundRect">
            <a:avLst>
              <a:gd name="adj" fmla="val 400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nha"/>
          <p:cNvSpPr/>
          <p:nvPr/>
        </p:nvSpPr>
        <p:spPr>
          <a:xfrm>
            <a:off x="1463040" y="4361688"/>
            <a:ext cx="9265615" cy="54864"/>
          </a:xfrm>
          <a:prstGeom prst="rect">
            <a:avLst/>
          </a:prstGeom>
          <a:solidFill>
            <a:srgbClr val="2E3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inha feita"/>
          <p:cNvSpPr/>
          <p:nvPr/>
        </p:nvSpPr>
        <p:spPr>
          <a:xfrm>
            <a:off x="1463040" y="4361688"/>
            <a:ext cx="4632807" cy="54864"/>
          </a:xfrm>
          <a:prstGeom prst="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tile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11480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35204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200">
                <a:solidFill>
                  <a:srgbClr val="8E98C8"/>
                </a:solidFill>
                <a:latin typeface="Inter"/>
              </a:rPr>
              <a:t>AGO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9EDFF"/>
                </a:solidFill>
                <a:latin typeface="Space Grotesk"/>
              </a:rPr>
              <a:t>Levantamento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E98C8"/>
                </a:solidFill>
                <a:latin typeface="Inter"/>
              </a:rPr>
              <a:t>Descrição curta do marco</a:t>
            </a:r>
          </a:p>
        </p:txBody>
      </p:sp>
      <p:pic>
        <p:nvPicPr>
          <p:cNvPr id="20" name="Picture 19" descr="tile_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123" y="411480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65043" y="35204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200">
                <a:solidFill>
                  <a:srgbClr val="8E98C8"/>
                </a:solidFill>
                <a:latin typeface="Inter"/>
              </a:rPr>
              <a:t>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3603" y="49377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9EDFF"/>
                </a:solidFill>
                <a:latin typeface="Space Grotesk"/>
              </a:rPr>
              <a:t>Protótipo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3603" y="5303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E98C8"/>
                </a:solidFill>
                <a:latin typeface="Inter"/>
              </a:rPr>
              <a:t>Descrição curta do marco</a:t>
            </a:r>
          </a:p>
        </p:txBody>
      </p:sp>
      <p:sp>
        <p:nvSpPr>
          <p:cNvPr id="24" name="Oval 23"/>
          <p:cNvSpPr/>
          <p:nvPr/>
        </p:nvSpPr>
        <p:spPr>
          <a:xfrm>
            <a:off x="5711799" y="4005072"/>
            <a:ext cx="768096" cy="768096"/>
          </a:xfrm>
          <a:prstGeom prst="ellipse">
            <a:avLst/>
          </a:prstGeom>
          <a:solidFill>
            <a:srgbClr val="141E48"/>
          </a:solidFill>
          <a:ln w="9525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tile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7" y="4114800"/>
            <a:ext cx="548640" cy="548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81447" y="35204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200">
                <a:solidFill>
                  <a:srgbClr val="8B7CFF"/>
                </a:solidFill>
                <a:latin typeface="Inter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0007" y="49377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9EDFF"/>
                </a:solidFill>
                <a:latin typeface="Space Grotesk"/>
              </a:rPr>
              <a:t>Sprint atual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0007" y="5303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E98C8"/>
                </a:solidFill>
                <a:latin typeface="Inter"/>
              </a:rPr>
              <a:t>Descrição curta do marco</a:t>
            </a:r>
          </a:p>
        </p:txBody>
      </p:sp>
      <p:sp>
        <p:nvSpPr>
          <p:cNvPr id="29" name="Oval 28"/>
          <p:cNvSpPr/>
          <p:nvPr/>
        </p:nvSpPr>
        <p:spPr>
          <a:xfrm>
            <a:off x="8137931" y="4114800"/>
            <a:ext cx="548640" cy="548640"/>
          </a:xfrm>
          <a:prstGeom prst="ellipse">
            <a:avLst/>
          </a:prstGeom>
          <a:solidFill>
            <a:srgbClr val="141C40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339099" y="4315968"/>
            <a:ext cx="146304" cy="146304"/>
          </a:xfrm>
          <a:prstGeom prst="ellipse">
            <a:avLst/>
          </a:prstGeom>
          <a:solidFill>
            <a:srgbClr val="8E9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97851" y="35204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200">
                <a:solidFill>
                  <a:srgbClr val="8E98C8"/>
                </a:solidFill>
                <a:latin typeface="Inter"/>
              </a:rPr>
              <a:t>NOV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411" y="49377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9EDFF"/>
                </a:solidFill>
                <a:latin typeface="Space Grotesk"/>
              </a:rPr>
              <a:t>Testes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411" y="5303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E98C8"/>
                </a:solidFill>
                <a:latin typeface="Inter"/>
              </a:rPr>
              <a:t>Descrição curta do marco</a:t>
            </a:r>
          </a:p>
        </p:txBody>
      </p:sp>
      <p:sp>
        <p:nvSpPr>
          <p:cNvPr id="34" name="Oval 33"/>
          <p:cNvSpPr/>
          <p:nvPr/>
        </p:nvSpPr>
        <p:spPr>
          <a:xfrm>
            <a:off x="10454335" y="4114800"/>
            <a:ext cx="548640" cy="548640"/>
          </a:xfrm>
          <a:prstGeom prst="ellipse">
            <a:avLst/>
          </a:prstGeom>
          <a:solidFill>
            <a:srgbClr val="141C40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0655503" y="4315968"/>
            <a:ext cx="146304" cy="146304"/>
          </a:xfrm>
          <a:prstGeom prst="ellipse">
            <a:avLst/>
          </a:prstGeom>
          <a:solidFill>
            <a:srgbClr val="8E9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14255" y="352043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200">
                <a:solidFill>
                  <a:srgbClr val="8E98C8"/>
                </a:solidFill>
                <a:latin typeface="Inter"/>
              </a:rPr>
              <a:t>DEZ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2815" y="493775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E9EDFF"/>
                </a:solidFill>
                <a:latin typeface="Space Grotesk"/>
              </a:rPr>
              <a:t>Banca do TCC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2815" y="53035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E98C8"/>
                </a:solidFill>
                <a:latin typeface="Inter"/>
              </a:rPr>
              <a:t>Descrição curta do marco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Métricas do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período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Frequência semanal e os destaques que ela mostra.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07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Card grafico"/>
          <p:cNvSpPr/>
          <p:nvPr/>
        </p:nvSpPr>
        <p:spPr>
          <a:xfrm>
            <a:off x="548640" y="2514600"/>
            <a:ext cx="6949440" cy="3657600"/>
          </a:xfrm>
          <a:prstGeom prst="roundRect">
            <a:avLst>
              <a:gd name="adj" fmla="val 400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il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74320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59" y="2770632"/>
            <a:ext cx="5852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Frequência por semana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081528"/>
            <a:ext cx="5852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E98C8"/>
                </a:solidFill>
                <a:latin typeface="Inter"/>
              </a:rPr>
              <a:t>Últimas seis semanas</a:t>
            </a:r>
          </a:p>
        </p:txBody>
      </p:sp>
      <p:graphicFrame>
        <p:nvGraphicFramePr>
          <p:cNvPr id="17" name="Grafico frequencia"/>
          <p:cNvGraphicFramePr>
            <a:graphicFrameLocks noGrp="1"/>
          </p:cNvGraphicFramePr>
          <p:nvPr/>
        </p:nvGraphicFramePr>
        <p:xfrm>
          <a:off x="822959" y="3520440"/>
          <a:ext cx="6400800" cy="24688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Destaque Melhor semana"/>
          <p:cNvSpPr/>
          <p:nvPr/>
        </p:nvSpPr>
        <p:spPr>
          <a:xfrm>
            <a:off x="7772400" y="2514600"/>
            <a:ext cx="3870655" cy="1691640"/>
          </a:xfrm>
          <a:prstGeom prst="roundRect">
            <a:avLst>
              <a:gd name="adj" fmla="val 8648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tile_bolt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78892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32520" y="2770632"/>
            <a:ext cx="26819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2E19A"/>
                </a:solidFill>
                <a:latin typeface="Space Grotesk"/>
              </a:rPr>
              <a:t>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29000"/>
            <a:ext cx="3322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Melhor semana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49039"/>
            <a:ext cx="3322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E98C8"/>
                </a:solidFill>
                <a:latin typeface="Inter"/>
              </a:rPr>
              <a:t>Explique em uma frase o que puxou o resultado.</a:t>
            </a:r>
          </a:p>
        </p:txBody>
      </p:sp>
      <p:sp>
        <p:nvSpPr>
          <p:cNvPr id="23" name="Destaque Pior semana"/>
          <p:cNvSpPr/>
          <p:nvPr/>
        </p:nvSpPr>
        <p:spPr>
          <a:xfrm>
            <a:off x="7772400" y="4480560"/>
            <a:ext cx="3870655" cy="1691640"/>
          </a:xfrm>
          <a:prstGeom prst="roundRect">
            <a:avLst>
              <a:gd name="adj" fmla="val 8648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tile_alert_yel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754880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732520" y="4736592"/>
            <a:ext cx="26819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C23D"/>
                </a:solidFill>
                <a:latin typeface="Space Grotesk"/>
              </a:rPr>
              <a:t>74%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394960"/>
            <a:ext cx="33220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Pior semana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715000"/>
            <a:ext cx="33220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E98C8"/>
                </a:solidFill>
                <a:latin typeface="Inter"/>
              </a:rPr>
              <a:t>Explique em uma frase o motivo da queda.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Riscos e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bloqueios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O que pode atrasar a entrega e como vamos agir.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08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Risco ATENÇÃO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4161"/>
            </a:avLst>
          </a:prstGeom>
          <a:solidFill>
            <a:srgbClr val="2A2630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ile_sync_yel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2788920"/>
            <a:ext cx="548640" cy="548640"/>
          </a:xfrm>
          <a:prstGeom prst="rect">
            <a:avLst/>
          </a:prstGeom>
        </p:spPr>
      </p:pic>
      <p:sp>
        <p:nvSpPr>
          <p:cNvPr id="15" name="Etiqueta ATENÇÃO"/>
          <p:cNvSpPr/>
          <p:nvPr/>
        </p:nvSpPr>
        <p:spPr>
          <a:xfrm>
            <a:off x="2646578" y="290779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A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2792882" y="3017520"/>
            <a:ext cx="91440" cy="91440"/>
          </a:xfrm>
          <a:prstGeom prst="ellipse">
            <a:avLst/>
          </a:prstGeom>
          <a:solidFill>
            <a:srgbClr val="FFC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957474" y="2907792"/>
            <a:ext cx="78638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C23D"/>
                </a:solidFill>
                <a:latin typeface="Inter"/>
              </a:rPr>
              <a:t>ATENÇÃO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56616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9EDFF"/>
                </a:solidFill>
                <a:latin typeface="Space Grotesk"/>
              </a:rPr>
              <a:t>Título do risco moderado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0233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Descreva o problema em uma ou duas frases.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" y="5029200"/>
            <a:ext cx="2966618" cy="9144"/>
          </a:xfrm>
          <a:prstGeom prst="rect">
            <a:avLst/>
          </a:prstGeom>
          <a:solidFill>
            <a:srgbClr val="2E3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59" y="5212080"/>
            <a:ext cx="2966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50">
                <a:solidFill>
                  <a:srgbClr val="FFC23D"/>
                </a:solidFill>
                <a:latin typeface="Inter"/>
              </a:rPr>
              <a:t>PLANO DE 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48640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FF"/>
                </a:solidFill>
                <a:latin typeface="Inter"/>
              </a:rPr>
              <a:t>O que será feito, por quem e até quando.</a:t>
            </a:r>
          </a:p>
        </p:txBody>
      </p:sp>
      <p:sp>
        <p:nvSpPr>
          <p:cNvPr id="23" name="Risco CRÍTICO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4161"/>
            </a:avLst>
          </a:prstGeom>
          <a:solidFill>
            <a:srgbClr val="2A1430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tile_aler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788920"/>
            <a:ext cx="548640" cy="548640"/>
          </a:xfrm>
          <a:prstGeom prst="rect">
            <a:avLst/>
          </a:prstGeom>
        </p:spPr>
      </p:pic>
      <p:sp>
        <p:nvSpPr>
          <p:cNvPr id="25" name="Etiqueta CRÍTICO"/>
          <p:cNvSpPr/>
          <p:nvPr/>
        </p:nvSpPr>
        <p:spPr>
          <a:xfrm>
            <a:off x="6436156" y="290779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A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582460" y="3017520"/>
            <a:ext cx="91440" cy="91440"/>
          </a:xfrm>
          <a:prstGeom prst="ellipse">
            <a:avLst/>
          </a:prstGeom>
          <a:solidFill>
            <a:srgbClr val="FF4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47052" y="2907792"/>
            <a:ext cx="78638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4D6D"/>
                </a:solidFill>
                <a:latin typeface="Inter"/>
              </a:rPr>
              <a:t>CRÍTICO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2538" y="356616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9EDFF"/>
                </a:solidFill>
                <a:latin typeface="Space Grotesk"/>
              </a:rPr>
              <a:t>Título do risco crítico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2538" y="40233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Descreva o problema em uma ou duas frases.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2538" y="5029200"/>
            <a:ext cx="2966618" cy="9144"/>
          </a:xfrm>
          <a:prstGeom prst="rect">
            <a:avLst/>
          </a:prstGeom>
          <a:solidFill>
            <a:srgbClr val="2E3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12538" y="5212080"/>
            <a:ext cx="2966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50">
                <a:solidFill>
                  <a:srgbClr val="FF4D6D"/>
                </a:solidFill>
                <a:latin typeface="Inter"/>
              </a:rPr>
              <a:t>PLANO DE 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2538" y="548640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FF"/>
                </a:solidFill>
                <a:latin typeface="Inter"/>
              </a:rPr>
              <a:t>O que será feito, por quem e até quando.</a:t>
            </a:r>
          </a:p>
        </p:txBody>
      </p:sp>
      <p:sp>
        <p:nvSpPr>
          <p:cNvPr id="33" name="Risco RESOLVIDO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4161"/>
            </a:avLst>
          </a:prstGeom>
          <a:solidFill>
            <a:srgbClr val="0D2A31"/>
          </a:solidFill>
          <a:ln w="9525">
            <a:solidFill>
              <a:srgbClr val="2E3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tile_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116" y="2788920"/>
            <a:ext cx="548640" cy="548640"/>
          </a:xfrm>
          <a:prstGeom prst="rect">
            <a:avLst/>
          </a:prstGeom>
        </p:spPr>
      </p:pic>
      <p:sp>
        <p:nvSpPr>
          <p:cNvPr id="35" name="Etiqueta RESOLVIDO"/>
          <p:cNvSpPr/>
          <p:nvPr/>
        </p:nvSpPr>
        <p:spPr>
          <a:xfrm>
            <a:off x="10225735" y="290779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D2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372039" y="3017520"/>
            <a:ext cx="91440" cy="91440"/>
          </a:xfrm>
          <a:prstGeom prst="ellipse">
            <a:avLst/>
          </a:prstGeom>
          <a:solidFill>
            <a:srgbClr val="22E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536631" y="2907792"/>
            <a:ext cx="78638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E19A"/>
                </a:solidFill>
                <a:latin typeface="Inter"/>
              </a:rPr>
              <a:t>RESOLVIDO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2116" y="356616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9EDFF"/>
                </a:solidFill>
                <a:latin typeface="Space Grotesk"/>
              </a:rPr>
              <a:t>Título do risco resolvido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2116" y="40233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E98C8"/>
                </a:solidFill>
                <a:latin typeface="Inter"/>
              </a:rPr>
              <a:t>Descreva o problema em uma ou duas frases.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2116" y="5029200"/>
            <a:ext cx="2966618" cy="9144"/>
          </a:xfrm>
          <a:prstGeom prst="rect">
            <a:avLst/>
          </a:prstGeom>
          <a:solidFill>
            <a:srgbClr val="2E37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402116" y="5212080"/>
            <a:ext cx="2966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50">
                <a:solidFill>
                  <a:srgbClr val="22E19A"/>
                </a:solidFill>
                <a:latin typeface="Inter"/>
              </a:rPr>
              <a:t>PLANO DE 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2116" y="5486400"/>
            <a:ext cx="29666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9EDFF"/>
                </a:solidFill>
                <a:latin typeface="Inter"/>
              </a:rPr>
              <a:t>O que será feito, por quem e até quando.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" y="36575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9EDFF"/>
                </a:solidFill>
                <a:latin typeface="Space Grotesk"/>
              </a:rPr>
              <a:t>Frequency</a:t>
            </a:r>
            <a:r>
              <a:rPr sz="1500" b="1">
                <a:solidFill>
                  <a:srgbClr val="5B8CFF"/>
                </a:solidFill>
                <a:latin typeface="Space Grotesk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400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00">
                <a:solidFill>
                  <a:srgbClr val="8E98C8"/>
                </a:solidFill>
                <a:latin typeface="Inter"/>
              </a:rPr>
              <a:t>STATUS UPDATE</a:t>
            </a:r>
          </a:p>
        </p:txBody>
      </p:sp>
      <p:sp>
        <p:nvSpPr>
          <p:cNvPr id="7" name="Etiqueta Sprint 04  ·  Out 2026"/>
          <p:cNvSpPr/>
          <p:nvPr/>
        </p:nvSpPr>
        <p:spPr>
          <a:xfrm>
            <a:off x="9494215" y="45720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40519" y="457200"/>
            <a:ext cx="191109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Sprint 04  ·  Out 2026</a:t>
            </a:r>
          </a:p>
        </p:txBody>
      </p:sp>
      <p:sp>
        <p:nvSpPr>
          <p:cNvPr id="9" name="Titulo"/>
          <p:cNvSpPr txBox="1"/>
          <p:nvPr/>
        </p:nvSpPr>
        <p:spPr>
          <a:xfrm>
            <a:off x="548640" y="11430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E9EDFF"/>
                </a:solidFill>
                <a:latin typeface="Space Grotesk"/>
              </a:rPr>
              <a:t>Próximos </a:t>
            </a:r>
            <a:r>
              <a:rPr sz="3400" b="1">
                <a:solidFill>
                  <a:srgbClr val="8B7CFF"/>
                </a:solidFill>
                <a:latin typeface="Space Grotesk"/>
              </a:rPr>
              <a:t>passos</a:t>
            </a:r>
          </a:p>
        </p:txBody>
      </p:sp>
      <p:sp>
        <p:nvSpPr>
          <p:cNvPr id="10" name="Subtitulo"/>
          <p:cNvSpPr txBox="1"/>
          <p:nvPr/>
        </p:nvSpPr>
        <p:spPr>
          <a:xfrm>
            <a:off x="548640" y="1810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8E98C8"/>
                </a:solidFill>
                <a:latin typeface="Inter"/>
              </a:rPr>
              <a:t>Prioridades da próxima sprint.</a:t>
            </a:r>
          </a:p>
        </p:txBody>
      </p:sp>
      <p:sp>
        <p:nvSpPr>
          <p:cNvPr id="11" name="Numero do slide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8E98C8"/>
                </a:solidFill>
                <a:latin typeface="Inter"/>
              </a:rPr>
              <a:t>09</a:t>
            </a:r>
          </a:p>
        </p:txBody>
      </p:sp>
      <p:sp>
        <p:nvSpPr>
          <p:cNvPr id="12" name="Rodape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E98C8"/>
                </a:solidFill>
                <a:latin typeface="Inter"/>
              </a:rPr>
              <a:t>FrequencyON  ·  Controle de presença por reconhecimento facial</a:t>
            </a:r>
          </a:p>
        </p:txBody>
      </p:sp>
      <p:sp>
        <p:nvSpPr>
          <p:cNvPr id="13" name="Passo 1"/>
          <p:cNvSpPr/>
          <p:nvPr/>
        </p:nvSpPr>
        <p:spPr>
          <a:xfrm>
            <a:off x="548640" y="2514600"/>
            <a:ext cx="11094415" cy="777240"/>
          </a:xfrm>
          <a:prstGeom prst="roundRect">
            <a:avLst>
              <a:gd name="adj" fmla="val 18823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ile_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2890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26289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9EDFF"/>
                </a:solidFill>
                <a:latin typeface="Space Grotesk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1460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9EDFF"/>
                </a:solidFill>
                <a:latin typeface="Inter"/>
              </a:rPr>
              <a:t>Primeira prioridade da próxima sprint</a:t>
            </a:r>
          </a:p>
        </p:txBody>
      </p:sp>
      <p:sp>
        <p:nvSpPr>
          <p:cNvPr id="17" name="Etiqueta Nome"/>
          <p:cNvSpPr/>
          <p:nvPr/>
        </p:nvSpPr>
        <p:spPr>
          <a:xfrm>
            <a:off x="8579815" y="274777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726119" y="2857500"/>
            <a:ext cx="91440" cy="9144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90711" y="2747772"/>
            <a:ext cx="96926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B8CFF"/>
                </a:solidFill>
                <a:latin typeface="Inter"/>
              </a:rPr>
              <a:t>Nome</a:t>
            </a:r>
          </a:p>
        </p:txBody>
      </p:sp>
      <p:sp>
        <p:nvSpPr>
          <p:cNvPr id="20" name="Etiqueta 19 out"/>
          <p:cNvSpPr/>
          <p:nvPr/>
        </p:nvSpPr>
        <p:spPr>
          <a:xfrm>
            <a:off x="10088575" y="274777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34879" y="2747772"/>
            <a:ext cx="108813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19 out</a:t>
            </a:r>
          </a:p>
        </p:txBody>
      </p:sp>
      <p:sp>
        <p:nvSpPr>
          <p:cNvPr id="22" name="Passo 2"/>
          <p:cNvSpPr/>
          <p:nvPr/>
        </p:nvSpPr>
        <p:spPr>
          <a:xfrm>
            <a:off x="548640" y="3474720"/>
            <a:ext cx="11094415" cy="777240"/>
          </a:xfrm>
          <a:prstGeom prst="roundRect">
            <a:avLst>
              <a:gd name="adj" fmla="val 18823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tile_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89020"/>
            <a:ext cx="548640" cy="548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35890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9EDFF"/>
                </a:solidFill>
                <a:latin typeface="Space Grotesk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47472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9EDFF"/>
                </a:solidFill>
                <a:latin typeface="Inter"/>
              </a:rPr>
              <a:t>Segunda prioridade da próxima sprint</a:t>
            </a:r>
          </a:p>
        </p:txBody>
      </p:sp>
      <p:sp>
        <p:nvSpPr>
          <p:cNvPr id="26" name="Etiqueta Nome"/>
          <p:cNvSpPr/>
          <p:nvPr/>
        </p:nvSpPr>
        <p:spPr>
          <a:xfrm>
            <a:off x="8579815" y="3707891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726119" y="3817620"/>
            <a:ext cx="91440" cy="9144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890711" y="3707891"/>
            <a:ext cx="96926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B8CFF"/>
                </a:solidFill>
                <a:latin typeface="Inter"/>
              </a:rPr>
              <a:t>Nome</a:t>
            </a:r>
          </a:p>
        </p:txBody>
      </p:sp>
      <p:sp>
        <p:nvSpPr>
          <p:cNvPr id="29" name="Etiqueta 26 out"/>
          <p:cNvSpPr/>
          <p:nvPr/>
        </p:nvSpPr>
        <p:spPr>
          <a:xfrm>
            <a:off x="10088575" y="3707891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234879" y="3707891"/>
            <a:ext cx="108813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26 out</a:t>
            </a:r>
          </a:p>
        </p:txBody>
      </p:sp>
      <p:sp>
        <p:nvSpPr>
          <p:cNvPr id="31" name="Passo 3"/>
          <p:cNvSpPr/>
          <p:nvPr/>
        </p:nvSpPr>
        <p:spPr>
          <a:xfrm>
            <a:off x="548640" y="4434840"/>
            <a:ext cx="11094415" cy="777240"/>
          </a:xfrm>
          <a:prstGeom prst="roundRect">
            <a:avLst>
              <a:gd name="adj" fmla="val 18823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tile_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49140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5491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9EDFF"/>
                </a:solidFill>
                <a:latin typeface="Space Grotesk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43484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9EDFF"/>
                </a:solidFill>
                <a:latin typeface="Inter"/>
              </a:rPr>
              <a:t>Terceira prioridade da próxima sprint</a:t>
            </a:r>
          </a:p>
        </p:txBody>
      </p:sp>
      <p:sp>
        <p:nvSpPr>
          <p:cNvPr id="35" name="Etiqueta Nome"/>
          <p:cNvSpPr/>
          <p:nvPr/>
        </p:nvSpPr>
        <p:spPr>
          <a:xfrm>
            <a:off x="8579815" y="466801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726119" y="4777740"/>
            <a:ext cx="91440" cy="9144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90711" y="4668012"/>
            <a:ext cx="96926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B8CFF"/>
                </a:solidFill>
                <a:latin typeface="Inter"/>
              </a:rPr>
              <a:t>Nome</a:t>
            </a:r>
          </a:p>
        </p:txBody>
      </p:sp>
      <p:sp>
        <p:nvSpPr>
          <p:cNvPr id="38" name="Etiqueta 02 nov"/>
          <p:cNvSpPr/>
          <p:nvPr/>
        </p:nvSpPr>
        <p:spPr>
          <a:xfrm>
            <a:off x="10088575" y="466801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234879" y="4668012"/>
            <a:ext cx="108813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02 nov</a:t>
            </a:r>
          </a:p>
        </p:txBody>
      </p:sp>
      <p:sp>
        <p:nvSpPr>
          <p:cNvPr id="40" name="Passo 4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18823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tile_n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09260"/>
            <a:ext cx="548640" cy="5486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77240" y="55092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E9EDFF"/>
                </a:solidFill>
                <a:latin typeface="Space Grotesk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39496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E9EDFF"/>
                </a:solidFill>
                <a:latin typeface="Inter"/>
              </a:rPr>
              <a:t>Quarta prioridade da próxima sprint</a:t>
            </a:r>
          </a:p>
        </p:txBody>
      </p:sp>
      <p:sp>
        <p:nvSpPr>
          <p:cNvPr id="44" name="Etiqueta Nome"/>
          <p:cNvSpPr/>
          <p:nvPr/>
        </p:nvSpPr>
        <p:spPr>
          <a:xfrm>
            <a:off x="8579815" y="56281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726119" y="5737860"/>
            <a:ext cx="91440" cy="91440"/>
          </a:xfrm>
          <a:prstGeom prst="ellipse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890711" y="5628132"/>
            <a:ext cx="96926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5B8CFF"/>
                </a:solidFill>
                <a:latin typeface="Inter"/>
              </a:rPr>
              <a:t>Nome</a:t>
            </a:r>
          </a:p>
        </p:txBody>
      </p:sp>
      <p:sp>
        <p:nvSpPr>
          <p:cNvPr id="47" name="Etiqueta 09 nov"/>
          <p:cNvSpPr/>
          <p:nvPr/>
        </p:nvSpPr>
        <p:spPr>
          <a:xfrm>
            <a:off x="10088575" y="562813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41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234879" y="5628132"/>
            <a:ext cx="108813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8E98C8"/>
                </a:solidFill>
                <a:latin typeface="Inter"/>
              </a:rPr>
              <a:t>09 nov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aurora" descr="bg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tile_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927" y="1325880"/>
            <a:ext cx="1005840" cy="1005840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914400" y="26060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E9EDFF"/>
                </a:solidFill>
                <a:latin typeface="Space Grotesk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8B7CFF"/>
                </a:solidFill>
                <a:latin typeface="Space Grotesk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4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8E98C8"/>
                </a:solidFill>
                <a:latin typeface="Inter"/>
              </a:rPr>
              <a:t>Espaço para contato, link do repositório ou próximos encontros.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5487" y="5257800"/>
            <a:ext cx="2743200" cy="566928"/>
          </a:xfrm>
          <a:prstGeom prst="roundRect">
            <a:avLst>
              <a:gd name="adj" fmla="val 2258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ile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4359" y="5358384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8991" y="525780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nome@email.com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5257800"/>
            <a:ext cx="2743200" cy="566928"/>
          </a:xfrm>
          <a:prstGeom prst="roundRect">
            <a:avLst>
              <a:gd name="adj" fmla="val 22580"/>
            </a:avLst>
          </a:prstGeom>
          <a:solidFill>
            <a:srgbClr val="0E1533"/>
          </a:solidFill>
          <a:ln w="9525">
            <a:solidFill>
              <a:srgbClr val="1F2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tile_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1879" y="5358384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36511" y="525780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9EDFF"/>
                </a:solidFill>
                <a:latin typeface="Inter"/>
              </a:rPr>
              <a:t>github.com/usuario/projeto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Update - FrequencyON</dc:title>
  <dc:subject/>
  <dc:creator>FrequencyON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